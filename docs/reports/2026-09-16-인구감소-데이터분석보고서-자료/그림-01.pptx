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2252A"/>
                </a:solidFill>
                <a:latin typeface="Noto Serif KR"/>
              </a:rPr>
              <a:t>그림 1. 원천에서 모델까지의 데이터 계보와 도달 범위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0124" y="3232404"/>
            <a:ext cx="1418499" cy="850392"/>
          </a:xfrm>
          <a:prstGeom prst="roundRect">
            <a:avLst/>
          </a:prstGeom>
          <a:solidFill>
            <a:srgbClr val="FAF9F6"/>
          </a:solidFill>
          <a:ln w="15875">
            <a:solidFill>
              <a:srgbClr val="DD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52A"/>
                </a:solidFill>
                <a:latin typeface="Noto Sans KR"/>
              </a:rPr>
              <a:t>원천 xlsx·csv 8건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8714" y="3232404"/>
            <a:ext cx="1418499" cy="850392"/>
          </a:xfrm>
          <a:prstGeom prst="roundRect">
            <a:avLst/>
          </a:prstGeom>
          <a:solidFill>
            <a:srgbClr val="FAF9F6"/>
          </a:solidFill>
          <a:ln w="15875">
            <a:solidFill>
              <a:srgbClr val="DD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52A"/>
                </a:solidFill>
                <a:latin typeface="Noto Sans KR"/>
              </a:rPr>
              <a:t>전처리 prepared 41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77303" y="1175004"/>
            <a:ext cx="1418499" cy="850392"/>
          </a:xfrm>
          <a:prstGeom prst="roundRect">
            <a:avLst/>
          </a:prstGeom>
          <a:solidFill>
            <a:srgbClr val="FAF9F6"/>
          </a:solidFill>
          <a:ln w="15875">
            <a:solidFill>
              <a:srgbClr val="DD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52A"/>
                </a:solidFill>
                <a:latin typeface="Noto Sans KR"/>
              </a:rPr>
              <a:t>남원 KT 방문객 / 월 x 행정동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7303" y="2546604"/>
            <a:ext cx="1418499" cy="850392"/>
          </a:xfrm>
          <a:prstGeom prst="roundRect">
            <a:avLst/>
          </a:prstGeom>
          <a:solidFill>
            <a:srgbClr val="FAF9F6"/>
          </a:solidFill>
          <a:ln w="15875">
            <a:solidFill>
              <a:srgbClr val="DD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52A"/>
                </a:solidFill>
                <a:latin typeface="Noto Sans KR"/>
              </a:rPr>
              <a:t>남원 BC카드 소비 / 월 x 행정동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7303" y="3918204"/>
            <a:ext cx="1418499" cy="850392"/>
          </a:xfrm>
          <a:prstGeom prst="roundRect">
            <a:avLst/>
          </a:prstGeom>
          <a:solidFill>
            <a:srgbClr val="FAF9F6"/>
          </a:solidFill>
          <a:ln w="15875">
            <a:solidFill>
              <a:srgbClr val="DD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52A"/>
                </a:solidFill>
                <a:latin typeface="Noto Sans KR"/>
              </a:rPr>
              <a:t>강원 GWTO 관광지표 / 월 x 시군구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7303" y="5289804"/>
            <a:ext cx="1418499" cy="850392"/>
          </a:xfrm>
          <a:prstGeom prst="roundRect">
            <a:avLst/>
          </a:prstGeom>
          <a:solidFill>
            <a:srgbClr val="FAF9F6"/>
          </a:solidFill>
          <a:ln w="15875">
            <a:solidFill>
              <a:srgbClr val="DD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52A"/>
                </a:solidFill>
                <a:latin typeface="Noto Sans KR"/>
              </a:rPr>
              <a:t>서울 노원 축제 / 일 x 지점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5892" y="2546604"/>
            <a:ext cx="1418499" cy="850392"/>
          </a:xfrm>
          <a:prstGeom prst="roundRect">
            <a:avLst/>
          </a:prstGeom>
          <a:solidFill>
            <a:srgbClr val="FAF9F6"/>
          </a:solidFill>
          <a:ln w="15875">
            <a:solidFill>
              <a:srgbClr val="DD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52A"/>
                </a:solidFill>
                <a:latin typeface="Noto Sans KR"/>
              </a:rPr>
              <a:t>PG 적재 loader / 4개 패밀리 지원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4481" y="3232404"/>
            <a:ext cx="1418499" cy="850392"/>
          </a:xfrm>
          <a:prstGeom prst="roundRect">
            <a:avLst/>
          </a:prstGeom>
          <a:solidFill>
            <a:srgbClr val="C1443E"/>
          </a:solidFill>
          <a:ln w="15875">
            <a:solidFill>
              <a:srgbClr val="C14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Noto Sans KR"/>
              </a:rPr>
              <a:t>분석·모델 도달범위 / allowlist 3개 테이블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33070" y="3232404"/>
            <a:ext cx="1418499" cy="850392"/>
          </a:xfrm>
          <a:prstGeom prst="roundRect">
            <a:avLst/>
          </a:prstGeom>
          <a:solidFill>
            <a:srgbClr val="FAF9F6"/>
          </a:solidFill>
          <a:ln w="15875">
            <a:solidFill>
              <a:srgbClr val="DD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52A"/>
                </a:solidFill>
                <a:latin typeface="Noto Sans KR"/>
              </a:rPr>
              <a:t>남원 2개 모델 / 방문객·소비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5892" y="3918204"/>
            <a:ext cx="1418499" cy="850392"/>
          </a:xfrm>
          <a:prstGeom prst="roundRect">
            <a:avLst/>
          </a:prstGeom>
          <a:solidFill>
            <a:srgbClr val="FAF9F6"/>
          </a:solidFill>
          <a:ln w="15875">
            <a:solidFill>
              <a:srgbClr val="DD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52A"/>
                </a:solidFill>
                <a:latin typeface="Noto Sans KR"/>
              </a:rPr>
              <a:t>도달 불가 / 참고용</a:t>
            </a:r>
          </a:p>
        </p:txBody>
      </p:sp>
      <p:cxnSp>
        <p:nvCxnSpPr>
          <p:cNvPr id="13" name="Connector 12"/>
          <p:cNvCxnSpPr>
            <a:stCxn id="3" idx="3"/>
            <a:endCxn id="4" idx="1"/>
          </p:cNvCxnSpPr>
          <p:nvPr/>
        </p:nvCxnSpPr>
        <p:spPr>
          <a:xfrm flipV="1">
            <a:off x="2258623" y="3657600"/>
            <a:ext cx="400091" cy="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4" idx="3"/>
            <a:endCxn id="5" idx="1"/>
          </p:cNvCxnSpPr>
          <p:nvPr/>
        </p:nvCxnSpPr>
        <p:spPr>
          <a:xfrm flipV="1">
            <a:off x="4077213" y="1600200"/>
            <a:ext cx="400090" cy="205740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4" idx="3"/>
            <a:endCxn id="6" idx="1"/>
          </p:cNvCxnSpPr>
          <p:nvPr/>
        </p:nvCxnSpPr>
        <p:spPr>
          <a:xfrm flipV="1">
            <a:off x="4077213" y="2971800"/>
            <a:ext cx="400090" cy="68580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4" idx="3"/>
            <a:endCxn id="7" idx="1"/>
          </p:cNvCxnSpPr>
          <p:nvPr/>
        </p:nvCxnSpPr>
        <p:spPr>
          <a:xfrm>
            <a:off x="4077213" y="3657600"/>
            <a:ext cx="400090" cy="68580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4" idx="3"/>
            <a:endCxn id="8" idx="1"/>
          </p:cNvCxnSpPr>
          <p:nvPr/>
        </p:nvCxnSpPr>
        <p:spPr>
          <a:xfrm>
            <a:off x="4077213" y="3657600"/>
            <a:ext cx="400090" cy="205740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5" idx="3"/>
            <a:endCxn id="9" idx="1"/>
          </p:cNvCxnSpPr>
          <p:nvPr/>
        </p:nvCxnSpPr>
        <p:spPr>
          <a:xfrm>
            <a:off x="5895802" y="1600200"/>
            <a:ext cx="400090" cy="137160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6" idx="3"/>
            <a:endCxn id="9" idx="1"/>
          </p:cNvCxnSpPr>
          <p:nvPr/>
        </p:nvCxnSpPr>
        <p:spPr>
          <a:xfrm flipV="1">
            <a:off x="5895802" y="2971800"/>
            <a:ext cx="400090" cy="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3"/>
            <a:endCxn id="9" idx="1"/>
          </p:cNvCxnSpPr>
          <p:nvPr/>
        </p:nvCxnSpPr>
        <p:spPr>
          <a:xfrm flipV="1">
            <a:off x="5895802" y="2971800"/>
            <a:ext cx="400090" cy="137160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8" idx="3"/>
            <a:endCxn id="9" idx="1"/>
          </p:cNvCxnSpPr>
          <p:nvPr/>
        </p:nvCxnSpPr>
        <p:spPr>
          <a:xfrm flipV="1">
            <a:off x="5895802" y="2971800"/>
            <a:ext cx="400090" cy="274320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9" idx="3"/>
            <a:endCxn id="10" idx="1"/>
          </p:cNvCxnSpPr>
          <p:nvPr/>
        </p:nvCxnSpPr>
        <p:spPr>
          <a:xfrm>
            <a:off x="7714391" y="2971800"/>
            <a:ext cx="400090" cy="68580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0" idx="3"/>
            <a:endCxn id="11" idx="1"/>
          </p:cNvCxnSpPr>
          <p:nvPr/>
        </p:nvCxnSpPr>
        <p:spPr>
          <a:xfrm flipV="1">
            <a:off x="9532980" y="3657600"/>
            <a:ext cx="400090" cy="0"/>
          </a:xfrm>
          <a:prstGeom prst="line">
            <a:avLst/>
          </a:prstGeom>
          <a:ln w="19050">
            <a:solidFill>
              <a:srgbClr val="6B70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7" idx="3"/>
            <a:endCxn id="12" idx="1"/>
          </p:cNvCxnSpPr>
          <p:nvPr/>
        </p:nvCxnSpPr>
        <p:spPr>
          <a:xfrm flipV="1">
            <a:off x="5895802" y="4343400"/>
            <a:ext cx="400090" cy="0"/>
          </a:xfrm>
          <a:prstGeom prst="line">
            <a:avLst/>
          </a:prstGeom>
          <a:ln w="19050">
            <a:solidFill>
              <a:srgbClr val="6B7078"/>
            </a:solidFill>
            <a:tailEnd type="triangle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8" idx="3"/>
            <a:endCxn id="12" idx="1"/>
          </p:cNvCxnSpPr>
          <p:nvPr/>
        </p:nvCxnSpPr>
        <p:spPr>
          <a:xfrm flipV="1">
            <a:off x="5895802" y="4343400"/>
            <a:ext cx="400090" cy="1371600"/>
          </a:xfrm>
          <a:prstGeom prst="line">
            <a:avLst/>
          </a:prstGeom>
          <a:ln w="19050">
            <a:solidFill>
              <a:srgbClr val="6B7078"/>
            </a:solidFill>
            <a:tailEnd type="triangle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